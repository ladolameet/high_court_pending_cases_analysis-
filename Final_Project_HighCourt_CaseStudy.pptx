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8" r:id="rId2"/>
    <p:sldId id="256" r:id="rId3"/>
    <p:sldId id="257" r:id="rId4"/>
    <p:sldId id="258" r:id="rId5"/>
    <p:sldId id="274" r:id="rId6"/>
    <p:sldId id="275" r:id="rId7"/>
    <p:sldId id="276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008"/>
    <a:srgbClr val="4A6FAC"/>
    <a:srgbClr val="B52ACC"/>
    <a:srgbClr val="6BB244"/>
    <a:srgbClr val="AB2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DE675-C62D-4C92-9341-E479EA35BAD4}" v="15" dt="2025-10-10T06:02:41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89886" autoAdjust="0"/>
  </p:normalViewPr>
  <p:slideViewPr>
    <p:cSldViewPr snapToGrid="0">
      <p:cViewPr varScale="1">
        <p:scale>
          <a:sx n="74" d="100"/>
          <a:sy n="74" d="100"/>
        </p:scale>
        <p:origin x="9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t Ladola" userId="da87743efa34fb0e" providerId="LiveId" clId="{AAC850C8-3C19-41B7-A11F-E3A60484BFC7}"/>
    <pc:docChg chg="undo custSel addSld delSld modSld">
      <pc:chgData name="Meet Ladola" userId="da87743efa34fb0e" providerId="LiveId" clId="{AAC850C8-3C19-41B7-A11F-E3A60484BFC7}" dt="2025-10-10T06:02:42.245" v="503" actId="20577"/>
      <pc:docMkLst>
        <pc:docMk/>
      </pc:docMkLst>
      <pc:sldChg chg="modSp mod">
        <pc:chgData name="Meet Ladola" userId="da87743efa34fb0e" providerId="LiveId" clId="{AAC850C8-3C19-41B7-A11F-E3A60484BFC7}" dt="2025-10-10T04:44:09.930" v="440" actId="20577"/>
        <pc:sldMkLst>
          <pc:docMk/>
          <pc:sldMk cId="3067597840" sldId="257"/>
        </pc:sldMkLst>
        <pc:spChg chg="mod">
          <ac:chgData name="Meet Ladola" userId="da87743efa34fb0e" providerId="LiveId" clId="{AAC850C8-3C19-41B7-A11F-E3A60484BFC7}" dt="2025-10-10T04:44:09.930" v="440" actId="20577"/>
          <ac:spMkLst>
            <pc:docMk/>
            <pc:sldMk cId="3067597840" sldId="257"/>
            <ac:spMk id="4" creationId="{9BD51473-7256-A0FD-69C5-6825E2CD9236}"/>
          </ac:spMkLst>
        </pc:spChg>
      </pc:sldChg>
      <pc:sldChg chg="modSp mod">
        <pc:chgData name="Meet Ladola" userId="da87743efa34fb0e" providerId="LiveId" clId="{AAC850C8-3C19-41B7-A11F-E3A60484BFC7}" dt="2025-10-10T04:44:31.861" v="458" actId="20577"/>
        <pc:sldMkLst>
          <pc:docMk/>
          <pc:sldMk cId="947991581" sldId="258"/>
        </pc:sldMkLst>
        <pc:spChg chg="mod">
          <ac:chgData name="Meet Ladola" userId="da87743efa34fb0e" providerId="LiveId" clId="{AAC850C8-3C19-41B7-A11F-E3A60484BFC7}" dt="2025-10-10T04:44:31.861" v="458" actId="20577"/>
          <ac:spMkLst>
            <pc:docMk/>
            <pc:sldMk cId="947991581" sldId="258"/>
            <ac:spMk id="3" creationId="{DE0DC2AA-3F7B-53F5-2E33-FC1F3069728C}"/>
          </ac:spMkLst>
        </pc:spChg>
      </pc:sldChg>
      <pc:sldChg chg="modSp mod">
        <pc:chgData name="Meet Ladola" userId="da87743efa34fb0e" providerId="LiveId" clId="{AAC850C8-3C19-41B7-A11F-E3A60484BFC7}" dt="2025-10-10T03:47:52.100" v="42" actId="1076"/>
        <pc:sldMkLst>
          <pc:docMk/>
          <pc:sldMk cId="2435646657" sldId="262"/>
        </pc:sldMkLst>
        <pc:spChg chg="mod">
          <ac:chgData name="Meet Ladola" userId="da87743efa34fb0e" providerId="LiveId" clId="{AAC850C8-3C19-41B7-A11F-E3A60484BFC7}" dt="2025-10-10T03:47:52.100" v="42" actId="1076"/>
          <ac:spMkLst>
            <pc:docMk/>
            <pc:sldMk cId="2435646657" sldId="262"/>
            <ac:spMk id="3" creationId="{ABB2486A-65CC-522C-06CD-F35CDAF1D42A}"/>
          </ac:spMkLst>
        </pc:spChg>
      </pc:sldChg>
      <pc:sldChg chg="modSp mod">
        <pc:chgData name="Meet Ladola" userId="da87743efa34fb0e" providerId="LiveId" clId="{AAC850C8-3C19-41B7-A11F-E3A60484BFC7}" dt="2025-10-10T04:39:23.595" v="432" actId="20577"/>
        <pc:sldMkLst>
          <pc:docMk/>
          <pc:sldMk cId="2100865592" sldId="270"/>
        </pc:sldMkLst>
        <pc:spChg chg="mod">
          <ac:chgData name="Meet Ladola" userId="da87743efa34fb0e" providerId="LiveId" clId="{AAC850C8-3C19-41B7-A11F-E3A60484BFC7}" dt="2025-10-10T04:39:23.595" v="432" actId="20577"/>
          <ac:spMkLst>
            <pc:docMk/>
            <pc:sldMk cId="2100865592" sldId="270"/>
            <ac:spMk id="3" creationId="{EB1FAFCA-C0E8-9FD4-DE8D-DA275917FE34}"/>
          </ac:spMkLst>
        </pc:spChg>
      </pc:sldChg>
      <pc:sldChg chg="modSp mod">
        <pc:chgData name="Meet Ladola" userId="da87743efa34fb0e" providerId="LiveId" clId="{AAC850C8-3C19-41B7-A11F-E3A60484BFC7}" dt="2025-10-10T06:02:22.338" v="490" actId="20577"/>
        <pc:sldMkLst>
          <pc:docMk/>
          <pc:sldMk cId="4190522475" sldId="271"/>
        </pc:sldMkLst>
        <pc:spChg chg="mod">
          <ac:chgData name="Meet Ladola" userId="da87743efa34fb0e" providerId="LiveId" clId="{AAC850C8-3C19-41B7-A11F-E3A60484BFC7}" dt="2025-10-10T06:02:22.338" v="490" actId="20577"/>
          <ac:spMkLst>
            <pc:docMk/>
            <pc:sldMk cId="4190522475" sldId="271"/>
            <ac:spMk id="2" creationId="{29F586E8-9C0C-DF79-779D-AFBE5BCDFAE8}"/>
          </ac:spMkLst>
        </pc:spChg>
      </pc:sldChg>
      <pc:sldChg chg="modSp mod">
        <pc:chgData name="Meet Ladola" userId="da87743efa34fb0e" providerId="LiveId" clId="{AAC850C8-3C19-41B7-A11F-E3A60484BFC7}" dt="2025-10-10T06:02:42.245" v="503" actId="20577"/>
        <pc:sldMkLst>
          <pc:docMk/>
          <pc:sldMk cId="249787005" sldId="272"/>
        </pc:sldMkLst>
        <pc:spChg chg="mod">
          <ac:chgData name="Meet Ladola" userId="da87743efa34fb0e" providerId="LiveId" clId="{AAC850C8-3C19-41B7-A11F-E3A60484BFC7}" dt="2025-10-10T06:02:42.245" v="503" actId="20577"/>
          <ac:spMkLst>
            <pc:docMk/>
            <pc:sldMk cId="249787005" sldId="272"/>
            <ac:spMk id="2" creationId="{0B67FDB6-0376-CE92-792C-E1B6E71F1EB7}"/>
          </ac:spMkLst>
        </pc:spChg>
      </pc:sldChg>
      <pc:sldChg chg="del">
        <pc:chgData name="Meet Ladola" userId="da87743efa34fb0e" providerId="LiveId" clId="{AAC850C8-3C19-41B7-A11F-E3A60484BFC7}" dt="2025-10-10T04:34:22.254" v="424" actId="47"/>
        <pc:sldMkLst>
          <pc:docMk/>
          <pc:sldMk cId="4052441498" sldId="277"/>
        </pc:sldMkLst>
      </pc:sldChg>
      <pc:sldChg chg="addSp delSp modSp mod">
        <pc:chgData name="Meet Ladola" userId="da87743efa34fb0e" providerId="LiveId" clId="{AAC850C8-3C19-41B7-A11F-E3A60484BFC7}" dt="2025-10-10T04:33:26.142" v="352" actId="20577"/>
        <pc:sldMkLst>
          <pc:docMk/>
          <pc:sldMk cId="3925605099" sldId="278"/>
        </pc:sldMkLst>
        <pc:spChg chg="del">
          <ac:chgData name="Meet Ladola" userId="da87743efa34fb0e" providerId="LiveId" clId="{AAC850C8-3C19-41B7-A11F-E3A60484BFC7}" dt="2025-10-10T04:13:10.705" v="107" actId="478"/>
          <ac:spMkLst>
            <pc:docMk/>
            <pc:sldMk cId="3925605099" sldId="278"/>
            <ac:spMk id="2" creationId="{F8446DCE-C419-3025-65EA-D8A3BE98D8DB}"/>
          </ac:spMkLst>
        </pc:spChg>
        <pc:spChg chg="mod">
          <ac:chgData name="Meet Ladola" userId="da87743efa34fb0e" providerId="LiveId" clId="{AAC850C8-3C19-41B7-A11F-E3A60484BFC7}" dt="2025-10-10T04:33:26.142" v="352" actId="20577"/>
          <ac:spMkLst>
            <pc:docMk/>
            <pc:sldMk cId="3925605099" sldId="278"/>
            <ac:spMk id="4" creationId="{B878E9DF-1AA3-152F-672B-644567EA472B}"/>
          </ac:spMkLst>
        </pc:spChg>
        <pc:graphicFrameChg chg="add mod modGraphic">
          <ac:chgData name="Meet Ladola" userId="da87743efa34fb0e" providerId="LiveId" clId="{AAC850C8-3C19-41B7-A11F-E3A60484BFC7}" dt="2025-10-10T04:24:15.737" v="338" actId="20577"/>
          <ac:graphicFrameMkLst>
            <pc:docMk/>
            <pc:sldMk cId="3925605099" sldId="278"/>
            <ac:graphicFrameMk id="3" creationId="{CBF0C363-953E-ED49-8722-F441AE8A17F4}"/>
          </ac:graphicFrameMkLst>
        </pc:graphicFrameChg>
        <pc:graphicFrameChg chg="mod">
          <ac:chgData name="Meet Ladola" userId="da87743efa34fb0e" providerId="LiveId" clId="{AAC850C8-3C19-41B7-A11F-E3A60484BFC7}" dt="2025-10-10T04:14:23.888" v="227" actId="1036"/>
          <ac:graphicFrameMkLst>
            <pc:docMk/>
            <pc:sldMk cId="3925605099" sldId="278"/>
            <ac:graphicFrameMk id="6" creationId="{11973D6E-3359-CD25-E580-65A3FFE7B8B9}"/>
          </ac:graphicFrameMkLst>
        </pc:graphicFrameChg>
      </pc:sldChg>
      <pc:sldChg chg="delSp modSp new mod">
        <pc:chgData name="Meet Ladola" userId="da87743efa34fb0e" providerId="LiveId" clId="{AAC850C8-3C19-41B7-A11F-E3A60484BFC7}" dt="2025-10-10T03:42:36.474" v="37" actId="14861"/>
        <pc:sldMkLst>
          <pc:docMk/>
          <pc:sldMk cId="1408717641" sldId="279"/>
        </pc:sldMkLst>
        <pc:spChg chg="mod">
          <ac:chgData name="Meet Ladola" userId="da87743efa34fb0e" providerId="LiveId" clId="{AAC850C8-3C19-41B7-A11F-E3A60484BFC7}" dt="2025-10-10T03:42:36.474" v="37" actId="14861"/>
          <ac:spMkLst>
            <pc:docMk/>
            <pc:sldMk cId="1408717641" sldId="279"/>
            <ac:spMk id="2" creationId="{C2A96DD8-2E01-5940-722A-1E2A8FFA27F3}"/>
          </ac:spMkLst>
        </pc:spChg>
        <pc:spChg chg="del">
          <ac:chgData name="Meet Ladola" userId="da87743efa34fb0e" providerId="LiveId" clId="{AAC850C8-3C19-41B7-A11F-E3A60484BFC7}" dt="2025-10-10T03:41:29.194" v="16" actId="478"/>
          <ac:spMkLst>
            <pc:docMk/>
            <pc:sldMk cId="1408717641" sldId="279"/>
            <ac:spMk id="3" creationId="{EC427B60-5F7A-5A2D-EB8F-566374FDDF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AC3FB-F4E3-4FD0-BC46-E9FA14EFD7E0}" type="datetimeFigureOut">
              <a:rPr lang="en-US"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625B0-023F-45EA-A50B-BE8DFC8B9170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74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055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2974-7422-4906-8C2D-CA7E2A1F2FAD}" type="datetimeFigureOut">
              <a:rPr lang="en-US"/>
              <a:t>10/10/2025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163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B2974-7422-4906-8C2D-CA7E2A1F2FAD}" type="datetimeFigureOut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8137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B2974-7422-4906-8C2D-CA7E2A1F2FAD}" type="datetimeFigureOut">
              <a:rPr lang="en-US"/>
              <a:t>10/10/2025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18F05-C3D0-4616-BBA3-717C141F9FDD}" type="slidenum">
              <a:rPr lang="en-US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6A71-0258-8E15-596C-A49AC6B5AE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78E9DF-1AA3-152F-672B-644567EA472B}"/>
              </a:ext>
            </a:extLst>
          </p:cNvPr>
          <p:cNvSpPr txBox="1">
            <a:spLocks/>
          </p:cNvSpPr>
          <p:nvPr/>
        </p:nvSpPr>
        <p:spPr>
          <a:xfrm>
            <a:off x="810891" y="1226131"/>
            <a:ext cx="10089175" cy="2150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dirty="0">
                <a:solidFill>
                  <a:srgbClr val="AB25AE"/>
                </a:solidFill>
                <a:latin typeface="Adani Bold" panose="02000503000000020004" pitchFamily="2" charset="0"/>
              </a:rPr>
              <a:t>Project on</a:t>
            </a:r>
          </a:p>
          <a:p>
            <a:pPr algn="l"/>
            <a:endParaRPr lang="en-IN" sz="4400" dirty="0">
              <a:solidFill>
                <a:srgbClr val="0070C0"/>
              </a:solidFill>
              <a:latin typeface="Adani Bold" panose="02000503000000020004" pitchFamily="2" charset="0"/>
            </a:endParaRPr>
          </a:p>
          <a:p>
            <a:pPr algn="l"/>
            <a:r>
              <a:rPr lang="en-US" sz="4400" dirty="0">
                <a:solidFill>
                  <a:schemeClr val="accent3"/>
                </a:solidFill>
                <a:latin typeface="Adani Bold" panose="02000503000000020004" pitchFamily="2" charset="0"/>
              </a:rPr>
              <a:t>High Court Pending Cases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1973D6E-3359-CD25-E580-65A3FFE7B8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895216"/>
              </p:ext>
            </p:extLst>
          </p:nvPr>
        </p:nvGraphicFramePr>
        <p:xfrm>
          <a:off x="804860" y="3574475"/>
          <a:ext cx="10207625" cy="155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10206925" imgH="86536" progId="CorelDraw.Graphic.20">
                  <p:embed/>
                </p:oleObj>
              </mc:Choice>
              <mc:Fallback>
                <p:oleObj name="CorelDRAW" r:id="rId2" imgW="10206925" imgH="86536" progId="CorelDraw.Graphic.20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11973D6E-3359-CD25-E580-65A3FFE7B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4860" y="3574475"/>
                        <a:ext cx="10207625" cy="155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F0C363-953E-ED49-8722-F441AE8A1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641908"/>
              </p:ext>
            </p:extLst>
          </p:nvPr>
        </p:nvGraphicFramePr>
        <p:xfrm>
          <a:off x="1080654" y="4065537"/>
          <a:ext cx="9954491" cy="22417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8473">
                  <a:extLst>
                    <a:ext uri="{9D8B030D-6E8A-4147-A177-3AD203B41FA5}">
                      <a16:colId xmlns:a16="http://schemas.microsoft.com/office/drawing/2014/main" val="401405656"/>
                    </a:ext>
                  </a:extLst>
                </a:gridCol>
                <a:gridCol w="5347854">
                  <a:extLst>
                    <a:ext uri="{9D8B030D-6E8A-4147-A177-3AD203B41FA5}">
                      <a16:colId xmlns:a16="http://schemas.microsoft.com/office/drawing/2014/main" val="1816108751"/>
                    </a:ext>
                  </a:extLst>
                </a:gridCol>
                <a:gridCol w="3318164">
                  <a:extLst>
                    <a:ext uri="{9D8B030D-6E8A-4147-A177-3AD203B41FA5}">
                      <a16:colId xmlns:a16="http://schemas.microsoft.com/office/drawing/2014/main" val="302312765"/>
                    </a:ext>
                  </a:extLst>
                </a:gridCol>
              </a:tblGrid>
              <a:tr h="373624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ENROLLMENT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608411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Sumit Kumar Mahato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950345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Meet Ladola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160633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Rahul Mandal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823123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Vidit Konkani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415813"/>
                  </a:ext>
                </a:extLst>
              </a:tr>
              <a:tr h="373624">
                <a:tc>
                  <a:txBody>
                    <a:bodyPr/>
                    <a:lstStyle/>
                    <a:p>
                      <a:r>
                        <a:rPr lang="en-IN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Dhruv C Patel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20252009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874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605099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2009-2C1E-E6E1-C992-19EC37E4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5034"/>
            <a:ext cx="10515600" cy="770171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Project Objective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CE65-D9D7-AADB-D417-F4869BDA0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The primary goal of this project is to systematically assess and quantify judicial backlog and disposal efficiency across Indian High Courts in 2025.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It aims to understand how backlogs are building up and how effectively cases are being cleared. The focus is on identifying benches under pressure where a large number of old cases, combined with high new case inflow, make it difficult to keep pace.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Ultimately, the project seeks to measure backlog pressure and disposal performance, identify high-risk benches where old pendency and net inflow jointly threaten clearance, and prioritize interventions using a composite risk score.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9314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989E-423D-E155-D28A-937EDF2A4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680"/>
            <a:ext cx="10515600" cy="801285"/>
          </a:xfrm>
        </p:spPr>
        <p:txBody>
          <a:bodyPr/>
          <a:lstStyle/>
          <a:p>
            <a:r>
              <a:rPr lang="en-IN" dirty="0">
                <a:cs typeface="Times New Roman" panose="02020603050405020304" pitchFamily="18" charset="0"/>
              </a:rPr>
              <a:t>Analytical Workflow (Methodology)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D51473-7256-A0FD-69C5-6825E2CD92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0798" y="1841128"/>
            <a:ext cx="1063752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cs typeface="Times New Roman" panose="02020603050405020304" pitchFamily="18" charset="0"/>
              </a:rPr>
              <a:t>1) Data Import: </a:t>
            </a:r>
            <a:r>
              <a:rPr lang="en-US" altLang="en-US" sz="2200" dirty="0">
                <a:cs typeface="Times New Roman" panose="02020603050405020304" pitchFamily="18" charset="0"/>
              </a:rPr>
              <a:t>By connecting, HighCourtDB1 in Python </a:t>
            </a:r>
            <a:r>
              <a:rPr lang="en-US" altLang="en-US" sz="2200" dirty="0" err="1">
                <a:cs typeface="Times New Roman" panose="02020603050405020304" pitchFamily="18" charset="0"/>
              </a:rPr>
              <a:t>Jupyter</a:t>
            </a:r>
            <a:r>
              <a:rPr lang="en-US" altLang="en-US" sz="2200" dirty="0">
                <a:cs typeface="Times New Roman" panose="02020603050405020304" pitchFamily="18" charset="0"/>
              </a:rPr>
              <a:t> Notebook directly on SQL.</a:t>
            </a:r>
          </a:p>
          <a:p>
            <a:pPr marL="45720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AutoNum type="arabicParenR"/>
            </a:pPr>
            <a:endParaRPr lang="en-US" altLang="en-US" sz="2200" b="1" dirty="0">
              <a:cs typeface="Times New Roman" panose="02020603050405020304" pitchFamily="18" charset="0"/>
            </a:endParaRPr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cs typeface="Times New Roman" panose="02020603050405020304" pitchFamily="18" charset="0"/>
              </a:rPr>
              <a:t>2) Data Preprocessing:</a:t>
            </a:r>
            <a:r>
              <a:rPr lang="en-US" altLang="en-US" sz="2200" dirty="0">
                <a:cs typeface="Times New Roman" panose="02020603050405020304" pitchFamily="18" charset="0"/>
              </a:rPr>
              <a:t> By checking the structure of the dataset.</a:t>
            </a:r>
          </a:p>
          <a:p>
            <a:pPr mar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3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) High court Net Flow (Monthly):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Check if backlog is growing or shrinking per bench.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4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) Disposal Ratio (Monthly &amp; YTD):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Compare disposal pace vs inflow.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5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) Backlog Age Distribution: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Share of cases &gt;3 years and &gt;10 years.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6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) Months-to-Clear: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Pending ÷ last month’s disposal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7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) Case-Type Composition: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 Identify dominance (writ, appeal, petition). </a:t>
            </a:r>
          </a:p>
        </p:txBody>
      </p:sp>
    </p:spTree>
    <p:extLst>
      <p:ext uri="{BB962C8B-B14F-4D97-AF65-F5344CB8AC3E}">
        <p14:creationId xmlns:p14="http://schemas.microsoft.com/office/powerpoint/2010/main" val="306759784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0ACC0-24F5-6F81-F7B4-D798F061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899795"/>
            <a:ext cx="10607040" cy="770170"/>
          </a:xfrm>
        </p:spPr>
        <p:txBody>
          <a:bodyPr>
            <a:normAutofit/>
          </a:bodyPr>
          <a:lstStyle/>
          <a:p>
            <a:r>
              <a:rPr lang="en-IN" dirty="0">
                <a:cs typeface="Times New Roman" panose="02020603050405020304" pitchFamily="18" charset="0"/>
              </a:rPr>
              <a:t>Analytical Workflow (Methodology)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C2AA-3F7B-53F5-2E33-FC1F30697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965960"/>
            <a:ext cx="10728960" cy="3992245"/>
          </a:xfrm>
        </p:spPr>
        <p:txBody>
          <a:bodyPr>
            <a:noAutofit/>
          </a:bodyPr>
          <a:lstStyle/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8) Backlog Pressure Ratio:</a:t>
            </a:r>
            <a:r>
              <a:rPr lang="en-US" altLang="en-US" sz="2200" dirty="0">
                <a:latin typeface="+mj-lt"/>
                <a:cs typeface="Times New Roman" panose="02020603050405020304" pitchFamily="18" charset="0"/>
              </a:rPr>
              <a:t> Pending vs last month disposed. 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+mj-lt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9) Risk Flags:</a:t>
            </a:r>
            <a:r>
              <a:rPr lang="en-US" altLang="en-US" sz="2200" dirty="0">
                <a:latin typeface="+mj-lt"/>
                <a:cs typeface="Times New Roman" panose="02020603050405020304" pitchFamily="18" charset="0"/>
              </a:rPr>
              <a:t> Low clearance + high pressure. 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+mj-lt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10) Composite Risk Score:</a:t>
            </a:r>
            <a:r>
              <a:rPr lang="en-US" altLang="en-US" sz="2200" dirty="0">
                <a:latin typeface="+mj-lt"/>
                <a:cs typeface="Times New Roman" panose="02020603050405020304" pitchFamily="18" charset="0"/>
              </a:rPr>
              <a:t> Weighted old-age pendency + low clearance. 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+mj-lt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10) Level Aggregation</a:t>
            </a:r>
            <a:r>
              <a:rPr lang="en-US" altLang="en-US" sz="2200" dirty="0">
                <a:latin typeface="+mj-lt"/>
                <a:cs typeface="Times New Roman" panose="02020603050405020304" pitchFamily="18" charset="0"/>
              </a:rPr>
              <a:t>: Composite Risk Score across all benches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+mj-lt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11) Findings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b="1" dirty="0">
              <a:latin typeface="+mj-lt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  <a:cs typeface="Times New Roman" panose="02020603050405020304" pitchFamily="18" charset="0"/>
              </a:rPr>
              <a:t>12) Key Learnings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+mj-lt"/>
            </a:endParaRPr>
          </a:p>
          <a:p>
            <a:pPr marL="0" indent="0">
              <a:buNone/>
            </a:pPr>
            <a:endParaRPr lang="en-IN" sz="2200" dirty="0">
              <a:latin typeface="+mj-lt"/>
            </a:endParaRPr>
          </a:p>
          <a:p>
            <a:pPr marL="0" indent="0">
              <a:buNone/>
            </a:pP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799158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9411-1705-ADE0-7A16-8D3791A2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7EDFF9-B018-2858-A553-CA47549E3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133" y="1856771"/>
            <a:ext cx="7841733" cy="491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095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44C9-BF64-1479-5ED8-425D2190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Court Case Type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8E74A7-5A28-8AD6-07A0-59AA0F5D1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4308" y="1890531"/>
            <a:ext cx="6418564" cy="4695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6AF881-35D0-5612-C859-6AE07FBA4BC6}"/>
              </a:ext>
            </a:extLst>
          </p:cNvPr>
          <p:cNvSpPr txBox="1"/>
          <p:nvPr/>
        </p:nvSpPr>
        <p:spPr>
          <a:xfrm>
            <a:off x="529935" y="2264887"/>
            <a:ext cx="48639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</a:rPr>
              <a:t>Our dataset consist of two types of cases:</a:t>
            </a:r>
          </a:p>
          <a:p>
            <a:endParaRPr lang="en-US" sz="2200" b="1" dirty="0">
              <a:latin typeface="+mj-lt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latin typeface="+mj-lt"/>
              </a:rPr>
              <a:t>Civil:</a:t>
            </a:r>
            <a:r>
              <a:rPr lang="en-US" sz="2200" dirty="0">
                <a:latin typeface="+mj-lt"/>
              </a:rPr>
              <a:t> It consist of cases such as Property disputes, contracts, family disputes, etc.</a:t>
            </a:r>
          </a:p>
          <a:p>
            <a:pPr marL="457200" indent="-457200">
              <a:buAutoNum type="arabicPeriod"/>
            </a:pPr>
            <a:endParaRPr lang="en-US" sz="2200" dirty="0">
              <a:latin typeface="+mj-lt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latin typeface="+mj-lt"/>
              </a:rPr>
              <a:t>Criminal:</a:t>
            </a:r>
            <a:r>
              <a:rPr lang="en-US" sz="2200" dirty="0">
                <a:latin typeface="+mj-lt"/>
              </a:rPr>
              <a:t> Crime related cases like theft, murder, fraud etc.</a:t>
            </a:r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01259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F4B9-9687-29E4-4A5D-94C93A66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Backlog Ratio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B1D2EB-F3B8-AC3E-287B-0A53E22A0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3312" y="2242052"/>
            <a:ext cx="6017526" cy="836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FA4956-17DF-AC9D-4885-EF1951951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312" y="3715774"/>
            <a:ext cx="6268292" cy="2737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0E27E8-0FBD-5079-3B03-80D65AC21BCD}"/>
              </a:ext>
            </a:extLst>
          </p:cNvPr>
          <p:cNvSpPr txBox="1"/>
          <p:nvPr/>
        </p:nvSpPr>
        <p:spPr>
          <a:xfrm>
            <a:off x="108373" y="2013758"/>
            <a:ext cx="58845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</a:rPr>
              <a:t>It shows the courts which are having highest number of pending cases &gt; 10 years.</a:t>
            </a: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+mj-lt"/>
              </a:rPr>
              <a:t>The top 5 High Courts are shows in the table.</a:t>
            </a:r>
          </a:p>
          <a:p>
            <a:endParaRPr lang="en-IN" sz="2200" dirty="0">
              <a:latin typeface="+mj-lt"/>
            </a:endParaRPr>
          </a:p>
          <a:p>
            <a:r>
              <a:rPr lang="en-IN" sz="2200" dirty="0">
                <a:latin typeface="+mj-lt"/>
              </a:rPr>
              <a:t>Also the number of instituted cases last month is shown.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719CB1-3ED9-67A6-F50D-16A920D94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96" y="4819764"/>
            <a:ext cx="5589738" cy="19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6440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showing benching and benching&#10;&#10;AI-generated content may be incorrect.">
            <a:extLst>
              <a:ext uri="{FF2B5EF4-FFF2-40B4-BE49-F238E27FC236}">
                <a16:creationId xmlns:a16="http://schemas.microsoft.com/office/drawing/2014/main" id="{79F756B6-27B8-CEFE-1577-C79F59C4D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318" y="2166447"/>
            <a:ext cx="6504309" cy="3860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CC79AF-EA24-B54C-D620-997FF25E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High Court Net Flow (Monthly) 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C813A-6271-1B7D-4638-6C5E9FE13FE4}"/>
              </a:ext>
            </a:extLst>
          </p:cNvPr>
          <p:cNvSpPr txBox="1"/>
          <p:nvPr/>
        </p:nvSpPr>
        <p:spPr>
          <a:xfrm>
            <a:off x="374071" y="2472705"/>
            <a:ext cx="517467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  <a:cs typeface="Times New Roman" panose="02020603050405020304" pitchFamily="18" charset="0"/>
              </a:rPr>
              <a:t>Top benches by net inflow = Cases Instituted Last Month − Cases Disposed Last Month</a:t>
            </a:r>
          </a:p>
          <a:p>
            <a:endParaRPr lang="en-US" sz="2200" dirty="0">
              <a:latin typeface="+mj-lt"/>
              <a:cs typeface="Times New Roman" panose="02020603050405020304" pitchFamily="18" charset="0"/>
            </a:endParaRPr>
          </a:p>
          <a:p>
            <a:endParaRPr lang="en-US" sz="2200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  <a:br>
              <a:rPr lang="en-US" sz="2200" dirty="0">
                <a:latin typeface="+mj-lt"/>
                <a:cs typeface="Times New Roman" panose="02020603050405020304" pitchFamily="18" charset="0"/>
              </a:rPr>
            </a:br>
            <a:r>
              <a:rPr lang="en-US" sz="2200" dirty="0">
                <a:latin typeface="+mj-lt"/>
                <a:cs typeface="Times New Roman" panose="02020603050405020304" pitchFamily="18" charset="0"/>
              </a:rPr>
              <a:t>Benches with positive net flow are actively accumulating backlog; negative net flow indicates reduction.</a:t>
            </a:r>
          </a:p>
          <a:p>
            <a:endParaRPr lang="en-IN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930767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0575B-AE18-0FA7-BC8A-7149D57B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9AD361-BBEC-B178-D29E-40020A596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755" y="2285324"/>
            <a:ext cx="6583600" cy="3034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AAF5AF-292D-F051-C76A-F9DC9347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Monthly Disposal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67BCE-96EB-C93D-597E-559E41C92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025" y="2967930"/>
            <a:ext cx="5288973" cy="984885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Distribution of Last Month’s disposal ratio =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Disposed_Last_Month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÷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Instituted_Last_Month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E8FFA-E327-FEA8-F364-86C147E645F6}"/>
              </a:ext>
            </a:extLst>
          </p:cNvPr>
          <p:cNvSpPr txBox="1"/>
          <p:nvPr/>
        </p:nvSpPr>
        <p:spPr>
          <a:xfrm>
            <a:off x="1007919" y="5018608"/>
            <a:ext cx="2722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C30841-4E4D-6056-97A1-239E765C0857}"/>
              </a:ext>
            </a:extLst>
          </p:cNvPr>
          <p:cNvSpPr txBox="1"/>
          <p:nvPr/>
        </p:nvSpPr>
        <p:spPr>
          <a:xfrm>
            <a:off x="1039092" y="5590310"/>
            <a:ext cx="10494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  <a:cs typeface="Times New Roman" panose="02020603050405020304" pitchFamily="18" charset="0"/>
              </a:rPr>
              <a:t>Variation in short-term efficiency; several benches dispose less than 50% of new cases, whereas a few handle well over 100%.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6919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4D6A-5FDE-351D-D94D-5C9BD62CB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cs typeface="Times New Roman" panose="02020603050405020304" pitchFamily="18" charset="0"/>
              </a:rPr>
              <a:t>Clearance Rate (YTD)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BF8EA-A827-5246-05AC-C5730797F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19" y="2717860"/>
            <a:ext cx="4928755" cy="152024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Distribution of year-to-date clearance rates, calculated as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Disposed_Current_Year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 ÷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Instituted_Current_Year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, with a dashed reference line at 1.0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1E8E8E-FDDF-FDC1-B60A-DAB7D78B6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980" y="2033443"/>
            <a:ext cx="6835757" cy="3255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B64469-5D7D-9193-EF4B-1D1B90F0E37D}"/>
              </a:ext>
            </a:extLst>
          </p:cNvPr>
          <p:cNvSpPr txBox="1"/>
          <p:nvPr/>
        </p:nvSpPr>
        <p:spPr>
          <a:xfrm>
            <a:off x="1039092" y="4893917"/>
            <a:ext cx="2722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370DB-3291-C38F-9436-B49118E6B4DB}"/>
              </a:ext>
            </a:extLst>
          </p:cNvPr>
          <p:cNvSpPr txBox="1"/>
          <p:nvPr/>
        </p:nvSpPr>
        <p:spPr>
          <a:xfrm>
            <a:off x="1007919" y="5351319"/>
            <a:ext cx="104948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Clearance rates below 1.0 indicate benches cumulatively adding to backlog this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Rates above 1.0 signify benches disposing more cases than they receive, reducing their backlog.</a:t>
            </a:r>
          </a:p>
        </p:txBody>
      </p:sp>
    </p:spTree>
    <p:extLst>
      <p:ext uri="{BB962C8B-B14F-4D97-AF65-F5344CB8AC3E}">
        <p14:creationId xmlns:p14="http://schemas.microsoft.com/office/powerpoint/2010/main" val="386829280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7BA7-C6AC-82B6-0C3A-DF4E39A8D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53624-D810-46E4-9C4C-D60155DC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Backlog age structure (Stacked bars)</a:t>
            </a:r>
            <a:endParaRPr lang="en-IN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2486A-65CC-522C-06CD-F35CDAF1D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853" y="2348347"/>
            <a:ext cx="4270663" cy="2213262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Stacked bars showing percent share of pending case age bands (&lt;1 year, 1–3 years, 3–5 years, 5–10 years, &gt;10 years) for each High Court.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E371F-3637-6490-A4D4-CB8E54F1BD38}"/>
              </a:ext>
            </a:extLst>
          </p:cNvPr>
          <p:cNvSpPr txBox="1"/>
          <p:nvPr/>
        </p:nvSpPr>
        <p:spPr>
          <a:xfrm>
            <a:off x="872836" y="4868211"/>
            <a:ext cx="2722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D3A97-2B53-4AE1-705A-4CD9BA21E794}"/>
              </a:ext>
            </a:extLst>
          </p:cNvPr>
          <p:cNvSpPr txBox="1"/>
          <p:nvPr/>
        </p:nvSpPr>
        <p:spPr>
          <a:xfrm>
            <a:off x="841663" y="5413261"/>
            <a:ext cx="10889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Structural aging of backlog—larger courts often have over 30% of pending cases older than 10 years, indicating chronic delays.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F54E91-975F-145D-CB2D-5DEA3591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082" y="2129561"/>
            <a:ext cx="7335983" cy="299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4665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15DB-2783-B7F8-79D4-D93A4EC4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309B-1C3E-B8EB-7F9B-E3D4BB5F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8227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cs typeface="Times New Roman" panose="02020603050405020304" pitchFamily="18" charset="0"/>
              </a:rPr>
              <a:t>Months-to-clear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060A-2F95-B9AD-296F-D331C08C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696" y="2159835"/>
            <a:ext cx="4532396" cy="4053927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Calculated as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total_pending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÷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disposed_last_month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for the benches with the highest values.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  <a:endParaRPr lang="en-US" sz="100" b="1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At current disposal rates, these benches require many months—or even years—to clear their existing backlog, highlighting critical operational time horizons.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0D13A-71B6-E81C-3A46-90CAE07B2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92" y="2159835"/>
            <a:ext cx="7098261" cy="411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6072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44FA-4FD7-C5EC-43AC-D0EE989F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569E4-FD10-04BC-DEB8-0B6AFA9E5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447" y="2161623"/>
            <a:ext cx="7416810" cy="2992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DBAFAF-F924-AD99-5B35-BDB9E0A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Case-type composition</a:t>
            </a:r>
            <a:endParaRPr lang="en-IN" dirty="0"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641A-068E-3A99-6676-9340BA8CF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026" y="2306783"/>
            <a:ext cx="4270663" cy="206779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Aggregate counts of case types (writs, appeals, applications, petitions, revisions, etc.) across all High Courts, highlighting benches that are writ-heavy versus appeal-heavy.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CFA48-93CA-03C3-6472-59C03680B44C}"/>
              </a:ext>
            </a:extLst>
          </p:cNvPr>
          <p:cNvSpPr txBox="1"/>
          <p:nvPr/>
        </p:nvSpPr>
        <p:spPr>
          <a:xfrm>
            <a:off x="727363" y="4844268"/>
            <a:ext cx="2722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8254F-377C-3A0A-E05D-771A3FE8DE4A}"/>
              </a:ext>
            </a:extLst>
          </p:cNvPr>
          <p:cNvSpPr txBox="1"/>
          <p:nvPr/>
        </p:nvSpPr>
        <p:spPr>
          <a:xfrm>
            <a:off x="737754" y="5350915"/>
            <a:ext cx="10889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  <a:cs typeface="Times New Roman" panose="02020603050405020304" pitchFamily="18" charset="0"/>
              </a:rPr>
              <a:t>Writ cases dominate overall, but the dominant case type varies by bench—some benches focus primarily on writ petitions while others handle higher volumes of appeals.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92937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504F-5984-8C27-7DD0-B5329AC2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EF4B-045D-8EAF-0224-010DC19B3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Backlog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Pressure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CBBF-B139-E9A2-5848-636F082A3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27" y="2618508"/>
            <a:ext cx="4665517" cy="1828799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Distribution of backlog pressure ratios, calculated as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Total_Pending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÷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Disposed_Last_Month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for each bench.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BB17B8-CF90-80E1-6208-5FB7BDD72304}"/>
              </a:ext>
            </a:extLst>
          </p:cNvPr>
          <p:cNvSpPr txBox="1"/>
          <p:nvPr/>
        </p:nvSpPr>
        <p:spPr>
          <a:xfrm>
            <a:off x="602672" y="4966543"/>
            <a:ext cx="2722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80F30-6D3C-1C85-625C-438D54F2327E}"/>
              </a:ext>
            </a:extLst>
          </p:cNvPr>
          <p:cNvSpPr txBox="1"/>
          <p:nvPr/>
        </p:nvSpPr>
        <p:spPr>
          <a:xfrm>
            <a:off x="633845" y="5444435"/>
            <a:ext cx="10889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  <a:cs typeface="Times New Roman" panose="02020603050405020304" pitchFamily="18" charset="0"/>
              </a:rPr>
              <a:t>The magnitude of stock relative to monthly throughput—benches with very high ratios face severe overload and may require urgent intervention.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691DB8-58AD-695F-8D37-2A02599D6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25" y="2002896"/>
            <a:ext cx="6786086" cy="325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9965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B733-2B7A-8B81-2F8C-8E7E2EC3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B7D95-44BB-F590-30B7-E544797A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27" y="2170482"/>
            <a:ext cx="7453747" cy="29094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D60E1-B0FE-9685-498B-894FB52EA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Risk Flags (Binary)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31986-FD45-5DB9-A82F-62CF9126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63" y="2524987"/>
            <a:ext cx="4270663" cy="1943103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Count of high-risk benches per High Court using defined thresholds (e.g.,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clearance_rate_ytd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&lt; 0.9 or </a:t>
            </a:r>
            <a:r>
              <a:rPr lang="en-US" sz="2200" dirty="0" err="1">
                <a:latin typeface="+mj-lt"/>
                <a:cs typeface="Times New Roman" panose="02020603050405020304" pitchFamily="18" charset="0"/>
              </a:rPr>
              <a:t>pressure_ratio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&gt; 100).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01C76-57A0-DB39-04E6-0B06DBFB964F}"/>
              </a:ext>
            </a:extLst>
          </p:cNvPr>
          <p:cNvSpPr txBox="1"/>
          <p:nvPr/>
        </p:nvSpPr>
        <p:spPr>
          <a:xfrm>
            <a:off x="623454" y="4858475"/>
            <a:ext cx="2722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8EE05-F8E1-1A46-BF9D-BCC0D5768B33}"/>
              </a:ext>
            </a:extLst>
          </p:cNvPr>
          <p:cNvSpPr txBox="1"/>
          <p:nvPr/>
        </p:nvSpPr>
        <p:spPr>
          <a:xfrm>
            <a:off x="602672" y="5382090"/>
            <a:ext cx="10889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+mj-lt"/>
                <a:cs typeface="Times New Roman" panose="02020603050405020304" pitchFamily="18" charset="0"/>
              </a:rPr>
              <a:t>Courts with clusters of flagged benches indicate systemic issues requiring court-wide reforms, while isolated flags suggest bench-specific problems.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76825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2038-94BD-4C92-2163-7139DA3B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BFBDB-B364-73D9-964B-17C7CB16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cs typeface="Times New Roman" panose="02020603050405020304" pitchFamily="18" charset="0"/>
              </a:rPr>
              <a:t>Composite Backlog Risk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27DFE-41C4-7A86-945D-B98AAE67D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9" y="2220504"/>
            <a:ext cx="4488874" cy="3636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Top 10 benches ranked by a weighted composite score, combining case aging (heavier weight for &gt;10 years, then 5–10, 3–5) with penalties for low clearance rates.</a:t>
            </a:r>
          </a:p>
          <a:p>
            <a:pPr marL="0" indent="0">
              <a:buNone/>
            </a:pPr>
            <a:endParaRPr lang="en-US" sz="10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  <a:p>
            <a:pPr marL="0" indent="0">
              <a:buNone/>
            </a:pPr>
            <a:endParaRPr lang="en-US" sz="500" b="1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 prioritized list where both aging backlog and disposal inefficiency jointly elevate overall risk, identifying the most critical benches requiring urgent intervention.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2AB8EE-0946-0547-6A06-B0A59D11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28" y="2129691"/>
            <a:ext cx="6928681" cy="403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19362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C565-7B0C-2EE5-5813-7271CD573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B32AE8-87C0-CA86-5784-C62D955F2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846" y="2182939"/>
            <a:ext cx="7675350" cy="3022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57DA36-FF41-5623-C8CF-B674BCB76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018"/>
            <a:ext cx="10515600" cy="976948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Court-Level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1D8BC-A624-CA7E-9DFA-4E8E78753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036" y="2327562"/>
            <a:ext cx="4270663" cy="26808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High Courts ranked by summed composite risk scores across all their benches, incorporating total pending cases, risk flags, and net flow.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7DA9A-D616-60F3-9633-9F9C9EA56F61}"/>
              </a:ext>
            </a:extLst>
          </p:cNvPr>
          <p:cNvSpPr txBox="1"/>
          <p:nvPr/>
        </p:nvSpPr>
        <p:spPr>
          <a:xfrm>
            <a:off x="592281" y="5019388"/>
            <a:ext cx="27224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+mj-lt"/>
                <a:cs typeface="Times New Roman" panose="02020603050405020304" pitchFamily="18" charset="0"/>
              </a:rPr>
              <a:t>What It Shows: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6E767-6D37-4F67-E4B6-14865BFCE609}"/>
              </a:ext>
            </a:extLst>
          </p:cNvPr>
          <p:cNvSpPr txBox="1"/>
          <p:nvPr/>
        </p:nvSpPr>
        <p:spPr>
          <a:xfrm>
            <a:off x="592281" y="5486003"/>
            <a:ext cx="10889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+mj-lt"/>
                <a:cs typeface="Times New Roman" panose="02020603050405020304" pitchFamily="18" charset="0"/>
              </a:rPr>
              <a:t>Systemic contributors (e.g., Allahabad High Court) where multiple benches and large case stocks combine to create exceptionally high aggregate risk, requiring court-wide reforms.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45258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2BC1-2AEC-FC6B-2766-680C16F91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8302-D6A2-2FAE-1D48-81AF847CB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91"/>
            <a:ext cx="10515600" cy="4223472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1) Net Flow: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Allahabad, Punjab &amp; Haryana, Rajasthan benches show large positive net inflows → backlog is actively growing.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2)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latin typeface="+mj-lt"/>
                <a:cs typeface="Times New Roman" panose="02020603050405020304" pitchFamily="18" charset="0"/>
              </a:rPr>
              <a:t>Clearance Rate: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Smaller courts (Sikkim, Meghalaya) ≈1.0; large courts &lt;0.9 → systemic imbalance.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3) Disposal Ratio Spread 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Wide variation; some benches dispose &lt;50% of inflow.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4) Backlog Age 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&gt;30–40% of pending cases are &gt;10 years in large courts → structural bottleneck.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5) Months to Clear 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Some benches exceed 100 months → impossible without extraordinary measures.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600976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F59B-26C9-4DEF-BE1C-61BAE344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34783"/>
          </a:xfrm>
        </p:spPr>
        <p:txBody>
          <a:bodyPr/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FAFCA-C0E8-9FD4-DE8D-DA275917F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6845"/>
            <a:ext cx="10515600" cy="440011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6) Case Type Composition: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Allahabad writ heavy (&gt;50%); Rajasthan appeal heavy → specialization needed.</a:t>
            </a:r>
            <a:r>
              <a:rPr lang="en-US" sz="2200" b="1" dirty="0">
                <a:latin typeface="+mj-lt"/>
                <a:cs typeface="Times New Roman" panose="02020603050405020304" pitchFamily="18" charset="0"/>
              </a:rPr>
              <a:t> 					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7) Pressure Ratio 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Ratios &gt;100 in large courts → disposal pace dwarfed by stock.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8) Risk Flags: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Allahabad, Punjab &amp; Haryana, Rajasthan have the most flagged benches.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9) Composite Risk: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Allahabad benches dominate top risk rankings due to both volume and aging.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latin typeface="+mj-lt"/>
                <a:cs typeface="Times New Roman" panose="02020603050405020304" pitchFamily="18" charset="0"/>
              </a:rPr>
              <a:t>10) Court Aggregation: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Allahabad High Court emerges as the single largest systemic risk contributor.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865592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86E8-9C0C-DF79-779D-AFBE5BCD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04A32-D1CA-6F6B-C379-6C8FC8B25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Counting backlog isn’t enough; pace, age, and composition together define real risk. The composite score captures this multidimensional reality and is more actionable than any single metric.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Net flow is a necessary near-term signal; even courts with decent YTD clearance can be slipping month-to-month and silently growing future backlog.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Aging skews harm. Addressing &gt;10-year cases first produces disproportionate gains in public trust and throughput—backlog reduction should be age-aware, not purely volume-driven.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522475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7FDB6-0376-CE92-792C-E1B6E71F1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91228-C6F9-DE81-CEEF-D30864390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33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 Months-to-clear is a powerful stakeholder communication tool; translating stock and flow into time makes the urgency tangible for administrative decisions.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Case-type specialization is not cosmetic—it’s throughput. Aligning bench focus to dominant case-types (writs, appeals) materially improves clearance.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Systemic hotspots exist where multiple benches are flagged. Interventions must operate at the High Court level: additional rosters, cross-bench redistribution, tech-enabled listing discipline, and ADR expansion.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+mj-lt"/>
                <a:cs typeface="Times New Roman" panose="02020603050405020304" pitchFamily="18" charset="0"/>
              </a:rPr>
              <a:t>Data hygiene matters. Consistent column naming and safe division guards prevented silent errors and made insights reproducible—critical for a formal project.</a:t>
            </a:r>
            <a:endParaRPr lang="en-IN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87005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6DD8-2E01-5940-722A-1E2A8FFA2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1427" y="2452255"/>
            <a:ext cx="9144000" cy="1442171"/>
          </a:xfrm>
          <a:effectLst>
            <a:reflection blurRad="6350" stA="50000" endA="300" endPos="55000" dir="5400000" sy="-100000" algn="bl" rotWithShape="0"/>
          </a:effectLst>
        </p:spPr>
        <p:txBody>
          <a:bodyPr>
            <a:normAutofit/>
          </a:bodyPr>
          <a:lstStyle/>
          <a:p>
            <a:r>
              <a:rPr lang="en-IN" sz="8800" dirty="0">
                <a:solidFill>
                  <a:srgbClr val="002060"/>
                </a:solidFill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408717641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13696</TotalTime>
  <Words>1373</Words>
  <Application>Microsoft Office PowerPoint</Application>
  <PresentationFormat>Widescreen</PresentationFormat>
  <Paragraphs>134</Paragraphs>
  <Slides>22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Adani Bold</vt:lpstr>
      <vt:lpstr>Adani Regular</vt:lpstr>
      <vt:lpstr>Arial</vt:lpstr>
      <vt:lpstr>Calibri</vt:lpstr>
      <vt:lpstr>Times New Roman</vt:lpstr>
      <vt:lpstr>Adani</vt:lpstr>
      <vt:lpstr>CorelDRAW</vt:lpstr>
      <vt:lpstr>PowerPoint Presentation</vt:lpstr>
      <vt:lpstr>Project Objective</vt:lpstr>
      <vt:lpstr>Analytical Workflow (Methodology)</vt:lpstr>
      <vt:lpstr>Analytical Workflow (Methodology)</vt:lpstr>
      <vt:lpstr>Dataset Overview</vt:lpstr>
      <vt:lpstr>Court Case Type</vt:lpstr>
      <vt:lpstr>Backlog Ratio</vt:lpstr>
      <vt:lpstr>High Court Net Flow (Monthly) </vt:lpstr>
      <vt:lpstr>Monthly Disposal Ratio</vt:lpstr>
      <vt:lpstr>Clearance Rate (YTD)</vt:lpstr>
      <vt:lpstr>Backlog age structure (Stacked bars)</vt:lpstr>
      <vt:lpstr>Months-to-clear</vt:lpstr>
      <vt:lpstr>Case-type composition</vt:lpstr>
      <vt:lpstr>Backlog Pressure Ratio</vt:lpstr>
      <vt:lpstr>Risk Flags (Binary) </vt:lpstr>
      <vt:lpstr>Composite Backlog Risk Score</vt:lpstr>
      <vt:lpstr>Court-Level Aggregation</vt:lpstr>
      <vt:lpstr>Findings</vt:lpstr>
      <vt:lpstr>Findings</vt:lpstr>
      <vt:lpstr>Key Learnings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datatypes (Vectors)</dc:title>
  <dc:creator>Parth Chauhan</dc:creator>
  <cp:lastModifiedBy>Meet Ladola</cp:lastModifiedBy>
  <cp:revision>350</cp:revision>
  <dcterms:created xsi:type="dcterms:W3CDTF">2022-04-02T05:42:11Z</dcterms:created>
  <dcterms:modified xsi:type="dcterms:W3CDTF">2025-10-10T06:02:47Z</dcterms:modified>
</cp:coreProperties>
</file>